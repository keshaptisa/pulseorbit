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sa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-256032"/>
            <a:ext cx="2788920" cy="109077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1207008"/>
            <a:ext cx="10820369" cy="5029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240" y="1591056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139696"/>
            <a:ext cx="10820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 spc="180">
                <a:solidFill>
                  <a:srgbClr val="0B0B14"/>
                </a:solidFill>
                <a:latin typeface="Segoe UI"/>
              </a:rPr>
              <a:t>ПУЛЬС ОРБИТЫ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10820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200">
                <a:solidFill>
                  <a:srgbClr val="FF4D8D"/>
                </a:solidFill>
                <a:latin typeface="Segoe UI"/>
              </a:rPr>
              <a:t>ПЛАНИРОВАНИЕ ВНЕКОРАБЕЛЬНОЙ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082036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0B0B14"/>
                </a:solidFill>
                <a:latin typeface="Segoe UI"/>
              </a:rPr>
              <a:t>Выбор окна ВКД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1082036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4D8D"/>
                </a:solidFill>
                <a:latin typeface="Segoe UI"/>
              </a:rPr>
              <a:t>по внешней обстановке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187952"/>
            <a:ext cx="78028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6B6B7B"/>
                </a:solidFill>
                <a:latin typeface="Segoe UI"/>
              </a:rPr>
              <a:t>Космическая погода NOAA, траектория МКС и освещённость на орбите — в одном запросе вместо десятка разрозненных источников.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9624" y="4974336"/>
            <a:ext cx="4498848" cy="402336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4974336"/>
            <a:ext cx="44988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КОМАНДА «АБМАНКА ДЛЯ АБАМКИ»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22976"/>
            <a:ext cx="10820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0B0B14"/>
                </a:solidFill>
                <a:latin typeface="Segoe UI"/>
              </a:rPr>
              <a:t>Алиса Недозорова   ·   Дарья Колпакова   ·   Мария Сабашнюк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15584"/>
            <a:ext cx="10820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7B"/>
                </a:solidFill>
                <a:latin typeface="Segoe UI"/>
              </a:rPr>
              <a:t>Исследовательский прототип. Не является разрешением на проведение ВКД.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02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ЗАДАЧА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Один запрос вместо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десятка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Сервис сравнивает только окна одинаковой длительности: изменение длительности — новый план.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399556" cy="32461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331720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80944"/>
            <a:ext cx="27046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14"/>
                </a:solidFill>
                <a:latin typeface="Segoe UI"/>
              </a:rPr>
              <a:t>Задать окно работ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493008"/>
            <a:ext cx="27046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Начало, длительность от одного до восьми часов и допустимый перенос до суток — всё в UTC.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6252" y="1965960"/>
            <a:ext cx="3399556" cy="32461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43724" y="2331720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3724" y="23317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3724" y="2980944"/>
            <a:ext cx="27046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14"/>
                </a:solidFill>
                <a:latin typeface="Segoe UI"/>
              </a:rPr>
              <a:t>Проверить обстановку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3724" y="3493008"/>
            <a:ext cx="27046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Космическая погода и условия на траектории: видно, что уже наблюдалось, а что пока прогноз.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6704" y="1965960"/>
            <a:ext cx="3399556" cy="32461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4176" y="2331720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4176" y="23317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4176" y="2980944"/>
            <a:ext cx="27046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14"/>
                </a:solidFill>
                <a:latin typeface="Segoe UI"/>
              </a:rPr>
              <a:t>Сравнить и обосновать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4176" y="3493008"/>
            <a:ext cx="27046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Окна одинаковой длительности сравниваются между собой, а вывод прослеживается до источника.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86400"/>
            <a:ext cx="10820369" cy="841248"/>
          </a:xfrm>
          <a:prstGeom prst="roundRect">
            <a:avLst>
              <a:gd name="adj" fmla="val 27173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486400"/>
            <a:ext cx="1005227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0B14"/>
                </a:solidFill>
                <a:latin typeface="Segoe UI"/>
              </a:rPr>
              <a:t>Результат поддерживает решение, но не заменяет его.  </a:t>
            </a:r>
            <a:r>
              <a:rPr sz="1300" b="0" i="0">
                <a:solidFill>
                  <a:srgbClr val="6B6B7B"/>
                </a:solidFill>
                <a:latin typeface="Segoe UI"/>
              </a:rPr>
              <a:t>Уполномоченный специалист сохраняет ответственность за допуск к реальной ВКД.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03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ОПЕРАТОРСКАЯ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Четыре домена вместо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одной цифры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Интерфейс не сводит разные физические механизмы в общую вероятность травмы.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526784" cy="2788920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" y="2322575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32257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944368"/>
            <a:ext cx="1904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Радиация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401568"/>
            <a:ext cx="1904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Шкала S: протонные события. S3+ включает обязательный радиационный пересмотр.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328" y="1965960"/>
            <a:ext cx="2526784" cy="2788920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79512" y="2322575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9512" y="232257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1224" y="2944368"/>
            <a:ext cx="1904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Связь и навигация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1224" y="3401568"/>
            <a:ext cx="1904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Шкалы G и R: магнитные бури и радиопомехи. Отдельный механизм, отдельный фактор.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856" y="1965960"/>
            <a:ext cx="2526784" cy="2788920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44040" y="2322575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4040" y="232257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752" y="2944368"/>
            <a:ext cx="1904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Освещённость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752" y="3401568"/>
            <a:ext cx="1904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Свет и тень по траектории МКС. Ограничение работ, а не вероятность ущерба.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385" y="1965960"/>
            <a:ext cx="2526784" cy="2788920"/>
          </a:xfrm>
          <a:prstGeom prst="roundRect">
            <a:avLst>
              <a:gd name="adj" fmla="val 904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08569" y="2322575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69" y="232257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281" y="2944368"/>
            <a:ext cx="1904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Полнота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281" y="3401568"/>
            <a:ext cx="1904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Возраст продукта и отказ источника. «Нет данных» не равно «благоприятно».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29200"/>
            <a:ext cx="10820369" cy="123444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285232"/>
            <a:ext cx="100522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40">
                <a:solidFill>
                  <a:srgbClr val="FF4D8D"/>
                </a:solidFill>
                <a:latin typeface="Segoe UI"/>
              </a:rPr>
              <a:t>ГРАНИЦА ОТВЕТСТВЕННОСТИ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577840"/>
            <a:ext cx="1005227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Операторский статус задаёт следующий шаг, но не выдаёт разрешение на ВКД. </a:t>
            </a:r>
            <a:r>
              <a:rPr sz="1250" b="0" i="0">
                <a:solidFill>
                  <a:srgbClr val="6B6B7B"/>
                </a:solidFill>
                <a:latin typeface="Segoe UI"/>
              </a:rPr>
              <a:t>Даже статус CONDITIONAL требует бортовой дозиметрии и решения уполномоченного специалиста (NASA SRAG).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04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МЕХАНИЗМЫ И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Что берём у NOAA, а что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считаем сами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54782" cy="4069080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215798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57984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E63A77"/>
                </a:solidFill>
                <a:latin typeface="Segoe UI"/>
              </a:rPr>
              <a:t>ВНЕШНИЙ ПРОГНОЗ</a:t>
            </a:r>
          </a:p>
        </p:txBody>
      </p:sp>
      <p:sp>
        <p:nvSpPr>
          <p:cNvPr id="8" name="Oval 7"/>
          <p:cNvSpPr/>
          <p:nvPr/>
        </p:nvSpPr>
        <p:spPr>
          <a:xfrm>
            <a:off x="996696" y="2743200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88336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NOAA SWPC alerts.json — alerts, watches, warnings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3163824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08960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3-day-forecast.txt — Kp и вероятности S1+, R3+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3584448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Датированные daypre — суточные прогнозы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" y="4005072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50208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NOAA NCEI — итоговые события, только ретроспектива</a:t>
            </a:r>
          </a:p>
        </p:txBody>
      </p:sp>
      <p:sp>
        <p:nvSpPr>
          <p:cNvPr id="16" name="Oval 15"/>
          <p:cNvSpPr/>
          <p:nvPr/>
        </p:nvSpPr>
        <p:spPr>
          <a:xfrm>
            <a:off x="996696" y="4425696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370832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Шкалы S, G и R не суммируются между собой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901184"/>
            <a:ext cx="46329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6B6B7B"/>
                </a:solidFill>
                <a:latin typeface="Segoe UI"/>
              </a:rPr>
              <a:t>Границы 25 % и 50 % — прозрачная политика прототипа, а не норматив NASA.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1478" y="1874519"/>
            <a:ext cx="5254782" cy="4069080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2374" y="2157984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374" y="2157984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E63A77"/>
                </a:solidFill>
                <a:latin typeface="Segoe UI"/>
              </a:rPr>
              <a:t>РАСЧЁТ КОМАНДЫ</a:t>
            </a:r>
          </a:p>
        </p:txBody>
      </p:sp>
      <p:sp>
        <p:nvSpPr>
          <p:cNvPr id="22" name="Oval 21"/>
          <p:cNvSpPr/>
          <p:nvPr/>
        </p:nvSpPr>
        <p:spPr>
          <a:xfrm>
            <a:off x="6562374" y="2743200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118" y="2688336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CelesTrak OMM/TLE → SGP4, UTC и WGS-72</a:t>
            </a:r>
          </a:p>
        </p:txBody>
      </p:sp>
      <p:sp>
        <p:nvSpPr>
          <p:cNvPr id="24" name="Oval 23"/>
          <p:cNvSpPr/>
          <p:nvPr/>
        </p:nvSpPr>
        <p:spPr>
          <a:xfrm>
            <a:off x="6562374" y="3163824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0118" y="3108960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Аналитическое направление на Солнце</a:t>
            </a:r>
          </a:p>
        </p:txBody>
      </p:sp>
      <p:sp>
        <p:nvSpPr>
          <p:cNvPr id="26" name="Oval 25"/>
          <p:cNvSpPr/>
          <p:nvPr/>
        </p:nvSpPr>
        <p:spPr>
          <a:xfrm>
            <a:off x="6562374" y="3584448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0118" y="3529584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Цилиндрическая модель земной тени</a:t>
            </a:r>
          </a:p>
        </p:txBody>
      </p:sp>
      <p:sp>
        <p:nvSpPr>
          <p:cNvPr id="28" name="Oval 27"/>
          <p:cNvSpPr/>
          <p:nvPr/>
        </p:nvSpPr>
        <p:spPr>
          <a:xfrm>
            <a:off x="6562374" y="4005072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0118" y="3950208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Интервалы света и тени на 6 часов вперёд</a:t>
            </a:r>
          </a:p>
        </p:txBody>
      </p:sp>
      <p:sp>
        <p:nvSpPr>
          <p:cNvPr id="30" name="Oval 29"/>
          <p:cNvSpPr/>
          <p:nvPr/>
        </p:nvSpPr>
        <p:spPr>
          <a:xfrm>
            <a:off x="6562374" y="4425696"/>
            <a:ext cx="82296" cy="82296"/>
          </a:xfrm>
          <a:prstGeom prst="ellipse">
            <a:avLst/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0118" y="4370832"/>
            <a:ext cx="43952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TLE старше трёх суток отклоняются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374" y="4901184"/>
            <a:ext cx="46329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6B6B7B"/>
                </a:solidFill>
                <a:latin typeface="Segoe UI"/>
              </a:rPr>
              <a:t>Проверяемая геометрия вместо тепловой модели скафандра без её параметров.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05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ПРАВИЛО ВЫБОРА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«Нет данных» хуже, чем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плохая погода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Score — порядковая эвристика принятия решения, а не вероятность травмы.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54782" cy="370332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4942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40">
                <a:solidFill>
                  <a:srgbClr val="FF4D8D"/>
                </a:solidFill>
                <a:latin typeface="Segoe UI"/>
              </a:rPr>
              <a:t>ПОРЯДОК ХУДШЕЙ КАТЕГОРИИ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" y="2706624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E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706624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unknown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734056"/>
            <a:ext cx="32979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нет данных — худший случай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3364991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364991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92423"/>
            <a:ext cx="32979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выраженное воздействие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" y="402336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7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023360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2"/>
            <a:ext cx="32979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умеренное воздействие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" y="4681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BCB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81728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B0B14"/>
                </a:solidFill>
                <a:latin typeface="Segoe U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709160"/>
            <a:ext cx="32979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спокойная обстановка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1478" y="1965960"/>
            <a:ext cx="5254782" cy="370332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374" y="224942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40">
                <a:solidFill>
                  <a:srgbClr val="FF4D8D"/>
                </a:solidFill>
                <a:latin typeface="Segoe UI"/>
              </a:rPr>
              <a:t>КАК СРАВНИВАЮТСЯ ОКНА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374" y="2670048"/>
            <a:ext cx="463299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1.  </a:t>
            </a:r>
            <a:r>
              <a:rPr sz="1250" b="0" i="0">
                <a:solidFill>
                  <a:srgbClr val="0B0B14"/>
                </a:solidFill>
                <a:latin typeface="Segoe UI"/>
              </a:rPr>
              <a:t>Минимизируется худшая категория критичного фактора.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2.  </a:t>
            </a:r>
            <a:r>
              <a:rPr sz="1250" b="0" i="0">
                <a:solidFill>
                  <a:srgbClr val="0B0B14"/>
                </a:solidFill>
                <a:latin typeface="Segoe UI"/>
              </a:rPr>
              <a:t>Затем — максимальная доля окна под одним неблагоприятным фактором.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3.  </a:t>
            </a:r>
            <a:r>
              <a:rPr sz="1250" b="0" i="0">
                <a:solidFill>
                  <a:srgbClr val="0B0B14"/>
                </a:solidFill>
                <a:latin typeface="Segoe UI"/>
              </a:rPr>
              <a:t>Минуты разных механизмов не складываются.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4.  </a:t>
            </a:r>
            <a:r>
              <a:rPr sz="1250" b="0" i="0">
                <a:solidFill>
                  <a:srgbClr val="0B0B14"/>
                </a:solidFill>
                <a:latin typeface="Segoe UI"/>
              </a:rPr>
              <a:t>При равенстве сервис честно сообщает о равноценных вариантах.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2374" y="5029200"/>
            <a:ext cx="4632990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2374" y="5175504"/>
            <a:ext cx="46329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Тень влияет на выбор только при заданном ограничении непрерывного освещения.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06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ВРЕМЕННАЯ ЧЕСТНОСТЬ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Расчёт без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машины времени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99556" cy="2395728"/>
          </a:xfrm>
          <a:prstGeom prst="roundRect">
            <a:avLst>
              <a:gd name="adj" fmla="val 9541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" y="21945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1945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9424"/>
            <a:ext cx="21376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Текущий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" y="2798064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798064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63A77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218688"/>
            <a:ext cx="27777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Оперативные продукты NOAA и свежие элементы орбиты.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252" y="1874519"/>
            <a:ext cx="3399556" cy="2395728"/>
          </a:xfrm>
          <a:prstGeom prst="roundRect">
            <a:avLst>
              <a:gd name="adj" fmla="val 9541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25436" y="21945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5436" y="21945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0652" y="2249424"/>
            <a:ext cx="21376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Исторический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7148" y="2798064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7148" y="2798064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63A77"/>
                </a:solidFill>
                <a:latin typeface="Segoe UI"/>
              </a:rPr>
              <a:t>historical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7148" y="3218688"/>
            <a:ext cx="27777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Итоговые архивы за 1 мая — 30 июня 2024. Ретроспективный разбор.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704" y="1874519"/>
            <a:ext cx="3399556" cy="2395728"/>
          </a:xfrm>
          <a:prstGeom prst="roundRect">
            <a:avLst>
              <a:gd name="adj" fmla="val 9541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35888" y="21945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5888" y="21945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A77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1104" y="2249424"/>
            <a:ext cx="21376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14"/>
                </a:solidFill>
                <a:latin typeface="Segoe UI"/>
              </a:rPr>
              <a:t>Прогноз из прошлого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7600" y="2798064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7600" y="2798064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63A77"/>
                </a:solidFill>
                <a:latin typeface="Segoe UI"/>
              </a:rPr>
              <a:t>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7600" y="3218688"/>
            <a:ext cx="27777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Запись допускается только при published_at ≤ cutoff.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53712"/>
            <a:ext cx="10820369" cy="1442488"/>
          </a:xfrm>
          <a:prstGeom prst="roundRect">
            <a:avLst>
              <a:gd name="adj" fmla="val 1584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ui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681728"/>
            <a:ext cx="10564337" cy="1186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6105928"/>
            <a:ext cx="108203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4E4EC"/>
                </a:solidFill>
                <a:latin typeface="Segoe UI"/>
              </a:rPr>
              <a:t>Реальный ответ replay: прогноз NOAA daypre на cutoff и последующее наблюдение показаны раздельно.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07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ПРОВЕРКА 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58 суток прогнозов против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наблюдений NOAA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Наблюдения протонных событий &gt;10 МэВ берутся из еженедельных отчётов SWPC PRF и никогда не попадают в replay.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486400" cy="38404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21992"/>
            <a:ext cx="4864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20">
                <a:solidFill>
                  <a:srgbClr val="FF4D8D"/>
                </a:solidFill>
                <a:latin typeface="Segoe UI"/>
              </a:rPr>
              <a:t>ПОРОГ 50 %:  TP / FP / FN / TN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5230368"/>
            <a:ext cx="4864608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4148" y="4907661"/>
            <a:ext cx="841248" cy="322706"/>
          </a:xfrm>
          <a:prstGeom prst="roundRect">
            <a:avLst>
              <a:gd name="adj" fmla="val 14167"/>
            </a:avLst>
          </a:prstGeom>
          <a:solidFill>
            <a:srgbClr val="7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" y="4523613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0B14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" y="5358383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7B"/>
                </a:solidFill>
                <a:latin typeface="Segoe UI"/>
              </a:rPr>
              <a:t>Верно 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300" y="5092065"/>
            <a:ext cx="841248" cy="138303"/>
          </a:xfrm>
          <a:prstGeom prst="roundRect">
            <a:avLst>
              <a:gd name="adj" fmla="val 33057"/>
            </a:avLst>
          </a:prstGeom>
          <a:solidFill>
            <a:srgbClr val="FF4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0844" y="4708017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0B14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0844" y="5358383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7B"/>
                </a:solidFill>
                <a:latin typeface="Segoe UI"/>
              </a:rPr>
              <a:t>Ложно 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6452" y="5193792"/>
            <a:ext cx="841248" cy="36576"/>
          </a:xfrm>
          <a:prstGeom prst="roundRect">
            <a:avLst>
              <a:gd name="adj" fmla="val 50000"/>
            </a:avLst>
          </a:prstGeom>
          <a:solidFill>
            <a:srgbClr val="E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6996" y="480974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0B14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6996" y="5358383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7B"/>
                </a:solidFill>
                <a:latin typeface="Segoe UI"/>
              </a:rPr>
              <a:t>Пропуск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2604" y="3017520"/>
            <a:ext cx="841248" cy="2212848"/>
          </a:xfrm>
          <a:prstGeom prst="roundRect">
            <a:avLst>
              <a:gd name="adj" fmla="val 5434"/>
            </a:avLst>
          </a:prstGeom>
          <a:solidFill>
            <a:srgbClr val="BCB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3148" y="263347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0B14"/>
                </a:solidFill>
                <a:latin typeface="Segoe UI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3148" y="5358383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7B"/>
                </a:solidFill>
                <a:latin typeface="Segoe UI"/>
              </a:rPr>
              <a:t>Верно 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965960"/>
            <a:ext cx="5059649" cy="38404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2221992"/>
            <a:ext cx="44378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20">
                <a:solidFill>
                  <a:srgbClr val="FF4D8D"/>
                </a:solidFill>
                <a:latin typeface="Segoe UI"/>
              </a:rPr>
              <a:t>МЕТРИКИ НА ОБЩЕМ ПУЛЕ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670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0,700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3035808"/>
            <a:ext cx="4437857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31455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1455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1,000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7416" y="3511296"/>
            <a:ext cx="4437857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36210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Specificity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6210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0,941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7416" y="3986784"/>
            <a:ext cx="4437857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4096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4096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0,824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57416" y="4462272"/>
            <a:ext cx="4437857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7416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Brier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456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0,0574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6" y="5138928"/>
            <a:ext cx="443785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6B6B7B"/>
                </a:solidFill>
                <a:latin typeface="Segoe UI"/>
              </a:rPr>
              <a:t>Заблаговременность на двух событиях — 15,4 и 16,0 часа. Таблица чувствительности порога 10–90 % сохранена для аудита.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43600"/>
            <a:ext cx="1082036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4E4EC"/>
                </a:solidFill>
                <a:latin typeface="Segoe UI"/>
              </a:rPr>
              <a:t>Выборка содержит два связанных активных интервала и не является эксплуатационной валидацией. Метка относится к протонному событию на геосинхронной орбите, а не к дозе космонавта.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08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СОПОСТАВИМЫЕ 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Против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простого подхода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Единой метрики соревнования нет: сравниваем себя с тем, что аналитик сделал бы без сервиса.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54782" cy="370332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4942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40">
                <a:solidFill>
                  <a:srgbClr val="FF4D8D"/>
                </a:solidFill>
                <a:latin typeface="Segoe UI"/>
              </a:rPr>
              <a:t>ВЫБОР ОКНА ПРОТИВ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706624"/>
            <a:ext cx="46329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Простой подход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999232"/>
            <a:ext cx="463299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Оставить запрошенное начало ВКД как есть.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" y="3493008"/>
            <a:ext cx="4632990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639312"/>
            <a:ext cx="46329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Наш метод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931920"/>
            <a:ext cx="463299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Минимальный индекс среди окон той же длительности.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4425696"/>
            <a:ext cx="4632990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72000"/>
            <a:ext cx="46329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0B14"/>
                </a:solidFill>
                <a:latin typeface="Segoe UI"/>
              </a:rPr>
              <a:t>Что видит жюри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64608"/>
            <a:ext cx="463299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Оба варианта и разница индекса — в интерфейсе и в ZIP-отчёте.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5321808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При равенстве автоматический выбор не выполняется.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478" y="1965960"/>
            <a:ext cx="5254782" cy="370332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2374" y="224942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40">
                <a:solidFill>
                  <a:srgbClr val="FF4D8D"/>
                </a:solidFill>
                <a:latin typeface="Segoe UI"/>
              </a:rPr>
              <a:t>СОБЫТИЕ ПРОТИВ КОНТРОЛЬНОГО ПЕРИОДА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2374" y="2743200"/>
            <a:ext cx="64008" cy="566928"/>
          </a:xfrm>
          <a:prstGeom prst="roundRect">
            <a:avLst>
              <a:gd name="adj" fmla="val 42857"/>
            </a:avLst>
          </a:prstGeom>
          <a:solidFill>
            <a:srgbClr val="E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1830" y="268833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0B0B14"/>
                </a:solidFill>
                <a:latin typeface="Segoe UI"/>
              </a:rPr>
              <a:t>86,4 %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30" y="3108960"/>
            <a:ext cx="44135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средняя прогнозная вероятность в сутки с событием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2374" y="3694176"/>
            <a:ext cx="64008" cy="566928"/>
          </a:xfrm>
          <a:prstGeom prst="roundRect">
            <a:avLst>
              <a:gd name="adj" fmla="val 42857"/>
            </a:avLst>
          </a:prstGeom>
          <a:solidFill>
            <a:srgbClr val="7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1830" y="3639312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0B0B14"/>
                </a:solidFill>
                <a:latin typeface="Segoe UI"/>
              </a:rPr>
              <a:t>17,1 %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30" y="4059936"/>
            <a:ext cx="44135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в сутки без события — разделение, а не совпадение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2374" y="4663440"/>
            <a:ext cx="4632990" cy="10972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2374" y="4828032"/>
            <a:ext cx="463299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0B0B14"/>
                </a:solidFill>
                <a:latin typeface="Segoe UI"/>
              </a:rPr>
              <a:t>Порог 30 % → F1 0,778, порог 50 % → F1 0,824.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6B6B7B"/>
                </a:solidFill>
                <a:latin typeface="Segoe UI"/>
              </a:rPr>
              <a:t>Чувствительность 10–90 % сохранена для аудита; 3 ложных предупреждения при нулевых пропусках.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09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Живой сервис,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не макет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990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4E4EC"/>
                </a:solidFill>
                <a:latin typeface="Segoe UI"/>
              </a:rPr>
              <a:t>Скриншоты сняты с работающего расчёта на открытых данных.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0820369" cy="2980040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ui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10546049" cy="2705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084064"/>
            <a:ext cx="5327888" cy="109728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ui_wind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203957"/>
            <a:ext cx="5090144" cy="8574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236208"/>
            <a:ext cx="5327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4E4EC"/>
                </a:solidFill>
                <a:latin typeface="Segoe UI"/>
              </a:rPr>
              <a:t>Сравнение окон: явное «почему лучше или хуже», не только индекс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280" y="5084064"/>
            <a:ext cx="5327888" cy="109728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ui_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52" y="5211788"/>
            <a:ext cx="5090144" cy="8418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8280" y="6236208"/>
            <a:ext cx="5327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4E4EC"/>
                </a:solidFill>
                <a:latin typeface="Segoe UI"/>
              </a:rPr>
              <a:t>Доказательства: уровень, уверенность и первоисточник для каждого фактора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10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ГОТОВНОСТЬ И ГРАНИЦЫ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Что уже работает — и что мы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не заявляем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54782" cy="361188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15798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40">
                <a:solidFill>
                  <a:srgbClr val="FF4D8D"/>
                </a:solidFill>
                <a:latin typeface="Segoe UI"/>
              </a:rPr>
              <a:t>РЕАЛИЗОВАНО</a:t>
            </a:r>
          </a:p>
        </p:txBody>
      </p:sp>
      <p:sp>
        <p:nvSpPr>
          <p:cNvPr id="7" name="Oval 6"/>
          <p:cNvSpPr/>
          <p:nvPr/>
        </p:nvSpPr>
        <p:spPr>
          <a:xfrm>
            <a:off x="996695" y="2642615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6380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26334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Текущий, исторический и replay режимы</a:t>
            </a:r>
          </a:p>
        </p:txBody>
      </p:sp>
      <p:sp>
        <p:nvSpPr>
          <p:cNvPr id="10" name="Oval 9"/>
          <p:cNvSpPr/>
          <p:nvPr/>
        </p:nvSpPr>
        <p:spPr>
          <a:xfrm>
            <a:off x="996695" y="3099815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0952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30906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Три предпочтительных окна с объяснением</a:t>
            </a:r>
          </a:p>
        </p:txBody>
      </p:sp>
      <p:sp>
        <p:nvSpPr>
          <p:cNvPr id="13" name="Oval 12"/>
          <p:cNvSpPr/>
          <p:nvPr/>
        </p:nvSpPr>
        <p:spPr>
          <a:xfrm>
            <a:off x="996695" y="3557015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5524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35478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Отказ источника без ложного благоприятного статуса</a:t>
            </a:r>
          </a:p>
        </p:txBody>
      </p:sp>
      <p:sp>
        <p:nvSpPr>
          <p:cNvPr id="16" name="Oval 15"/>
          <p:cNvSpPr/>
          <p:nvPr/>
        </p:nvSpPr>
        <p:spPr>
          <a:xfrm>
            <a:off x="996695" y="4014215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0096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40050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Визуальная шкала света и тени</a:t>
            </a:r>
          </a:p>
        </p:txBody>
      </p:sp>
      <p:sp>
        <p:nvSpPr>
          <p:cNvPr id="19" name="Oval 18"/>
          <p:cNvSpPr/>
          <p:nvPr/>
        </p:nvSpPr>
        <p:spPr>
          <a:xfrm>
            <a:off x="996695" y="4471416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4668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4622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Серверный экспорт JSON, CSV и ZIP</a:t>
            </a:r>
          </a:p>
        </p:txBody>
      </p:sp>
      <p:sp>
        <p:nvSpPr>
          <p:cNvPr id="22" name="Oval 21"/>
          <p:cNvSpPr/>
          <p:nvPr/>
        </p:nvSpPr>
        <p:spPr>
          <a:xfrm>
            <a:off x="996695" y="4928616"/>
            <a:ext cx="219456" cy="219456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9240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63A77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9194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REST API — тот же результат без интерфейса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1478" y="1874519"/>
            <a:ext cx="5254782" cy="361188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2374" y="2157984"/>
            <a:ext cx="46329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40">
                <a:solidFill>
                  <a:srgbClr val="6B6B7B"/>
                </a:solidFill>
                <a:latin typeface="Segoe UI"/>
              </a:rPr>
              <a:t>НЕ ЗАЯВЛЯЕМ</a:t>
            </a:r>
          </a:p>
        </p:txBody>
      </p:sp>
      <p:sp>
        <p:nvSpPr>
          <p:cNvPr id="27" name="Oval 26"/>
          <p:cNvSpPr/>
          <p:nvPr/>
        </p:nvSpPr>
        <p:spPr>
          <a:xfrm>
            <a:off x="6562374" y="2642615"/>
            <a:ext cx="219456" cy="219456"/>
          </a:xfrm>
          <a:prstGeom prst="ellipse">
            <a:avLst/>
          </a:prstGeom>
          <a:noFill/>
          <a:ln w="9525">
            <a:solidFill>
              <a:srgbClr val="6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2374" y="26380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6B7B"/>
                </a:solidFill>
                <a:latin typeface="Segoe UI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8134" y="26334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Дозу конкретного космонавта</a:t>
            </a:r>
          </a:p>
        </p:txBody>
      </p:sp>
      <p:sp>
        <p:nvSpPr>
          <p:cNvPr id="30" name="Oval 29"/>
          <p:cNvSpPr/>
          <p:nvPr/>
        </p:nvSpPr>
        <p:spPr>
          <a:xfrm>
            <a:off x="6562374" y="3099815"/>
            <a:ext cx="219456" cy="219456"/>
          </a:xfrm>
          <a:prstGeom prst="ellipse">
            <a:avLst/>
          </a:prstGeom>
          <a:noFill/>
          <a:ln w="9525">
            <a:solidFill>
              <a:srgbClr val="6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2374" y="30952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6B7B"/>
                </a:solidFill>
                <a:latin typeface="Segoe UI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8134" y="30906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Вероятность повреждения скафандра</a:t>
            </a:r>
          </a:p>
        </p:txBody>
      </p:sp>
      <p:sp>
        <p:nvSpPr>
          <p:cNvPr id="33" name="Oval 32"/>
          <p:cNvSpPr/>
          <p:nvPr/>
        </p:nvSpPr>
        <p:spPr>
          <a:xfrm>
            <a:off x="6562374" y="3557015"/>
            <a:ext cx="219456" cy="219456"/>
          </a:xfrm>
          <a:prstGeom prst="ellipse">
            <a:avLst/>
          </a:prstGeom>
          <a:noFill/>
          <a:ln w="9525">
            <a:solidFill>
              <a:srgbClr val="6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2374" y="35524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6B7B"/>
                </a:solidFill>
                <a:latin typeface="Segoe UI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8134" y="35478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Полноту исторической орбиты за весь период</a:t>
            </a:r>
          </a:p>
        </p:txBody>
      </p:sp>
      <p:sp>
        <p:nvSpPr>
          <p:cNvPr id="36" name="Oval 35"/>
          <p:cNvSpPr/>
          <p:nvPr/>
        </p:nvSpPr>
        <p:spPr>
          <a:xfrm>
            <a:off x="6562374" y="4014215"/>
            <a:ext cx="219456" cy="219456"/>
          </a:xfrm>
          <a:prstGeom prst="ellipse">
            <a:avLst/>
          </a:prstGeom>
          <a:noFill/>
          <a:ln w="9525">
            <a:solidFill>
              <a:srgbClr val="6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374" y="40096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6B7B"/>
                </a:solidFill>
                <a:latin typeface="Segoe UI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8134" y="40050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Преобразование TEME → ITRF</a:t>
            </a:r>
          </a:p>
        </p:txBody>
      </p:sp>
      <p:sp>
        <p:nvSpPr>
          <p:cNvPr id="39" name="Oval 38"/>
          <p:cNvSpPr/>
          <p:nvPr/>
        </p:nvSpPr>
        <p:spPr>
          <a:xfrm>
            <a:off x="6562374" y="4471416"/>
            <a:ext cx="219456" cy="219456"/>
          </a:xfrm>
          <a:prstGeom prst="ellipse">
            <a:avLst/>
          </a:prstGeom>
          <a:noFill/>
          <a:ln w="9525">
            <a:solidFill>
              <a:srgbClr val="6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2374" y="446684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B6B7B"/>
                </a:solidFill>
                <a:latin typeface="Segoe UI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8134" y="4462272"/>
            <a:ext cx="42672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7B"/>
                </a:solidFill>
                <a:latin typeface="Segoe UI"/>
              </a:rPr>
              <a:t>Разрешение на реальную ВКД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806440"/>
            <a:ext cx="10820369" cy="566928"/>
          </a:xfrm>
          <a:prstGeom prst="roundRect">
            <a:avLst>
              <a:gd name="adj" fmla="val 40322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06440"/>
            <a:ext cx="1082036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14"/>
                </a:solidFill>
                <a:latin typeface="Segoe UI"/>
              </a:rPr>
              <a:t>39 автоматических тестов</a:t>
            </a:r>
            <a:r>
              <a:rPr sz="1200" b="0" i="0">
                <a:solidFill>
                  <a:srgbClr val="6B6B7B"/>
                </a:solidFill>
                <a:latin typeface="Segoe UI"/>
              </a:rPr>
              <a:t>   ·   Docker   ·   REST API   ·   Result ID и SHA-256      Сверх обязательного: </a:t>
            </a:r>
            <a:r>
              <a:rPr sz="1200" b="1" i="0">
                <a:solidFill>
                  <a:srgbClr val="E63A77"/>
                </a:solidFill>
                <a:latin typeface="Segoe UI"/>
              </a:rPr>
              <a:t>replay с фиксацией cutoff · ZIP-пакет · диагностика отказов · профиль политики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160">
                <a:solidFill>
                  <a:srgbClr val="FF4D8D"/>
                </a:solidFill>
                <a:latin typeface="Segoe UI"/>
              </a:rPr>
              <a:t>11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   ·   </a:t>
            </a:r>
            <a:r>
              <a:rPr sz="1150" b="1" i="0" spc="160">
                <a:solidFill>
                  <a:srgbClr val="FF4D8D"/>
                </a:solidFill>
                <a:latin typeface="Segoe UI"/>
              </a:rPr>
              <a:t>СЛЕДУЮЩИЙ ЭТАП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36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Что усилим за пределами </a:t>
            </a:r>
            <a:r>
              <a:rPr sz="3100" b="1" i="0">
                <a:solidFill>
                  <a:srgbClr val="FF4D8D"/>
                </a:solidFill>
                <a:latin typeface="Segoe UI"/>
              </a:rPr>
              <a:t>хакатона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399556" cy="269748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2642616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426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73552"/>
            <a:ext cx="27046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B0B14"/>
                </a:solidFill>
                <a:latin typeface="Segoe UI"/>
              </a:rPr>
              <a:t>Историческая орбита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877056"/>
            <a:ext cx="27046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Подключить лицензированный архив TLE с временем публикации и расширить покрытие дат.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6252" y="2286000"/>
            <a:ext cx="3399556" cy="269748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43724" y="2642616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3724" y="26426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724" y="3273552"/>
            <a:ext cx="27046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B0B14"/>
                </a:solidFill>
                <a:latin typeface="Segoe UI"/>
              </a:rPr>
              <a:t>Независимая проверка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3724" y="3877056"/>
            <a:ext cx="27046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Проверить несколько периодов солнечной активности и сезонов, а не один интервал.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6704" y="2286000"/>
            <a:ext cx="3399556" cy="269748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4176" y="2642616"/>
            <a:ext cx="420624" cy="420624"/>
          </a:xfrm>
          <a:prstGeom prst="ellipse">
            <a:avLst/>
          </a:prstGeom>
          <a:solidFill>
            <a:srgbClr val="FF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4176" y="264261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4176" y="3273552"/>
            <a:ext cx="27046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B0B14"/>
                </a:solidFill>
                <a:latin typeface="Segoe UI"/>
              </a:rPr>
              <a:t>Эксплуатационный профиль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4176" y="3877056"/>
            <a:ext cx="27046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B6B7B"/>
                </a:solidFill>
                <a:latin typeface="Segoe UI"/>
              </a:rPr>
              <a:t>Добавить ограничения конкретной ВКД и правила организации вместо демо-политики.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49240"/>
            <a:ext cx="10820369" cy="822960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349240"/>
            <a:ext cx="10052273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63A77"/>
                </a:solidFill>
                <a:latin typeface="Segoe UI"/>
              </a:rPr>
              <a:t>Приоритет:  </a:t>
            </a:r>
            <a:r>
              <a:rPr sz="1300" b="0" i="0">
                <a:solidFill>
                  <a:srgbClr val="0B0B14"/>
                </a:solidFill>
                <a:latin typeface="Segoe UI"/>
              </a:rPr>
              <a:t>данные и эксплуатационные правила раньше усложнения модели.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cosmona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66928"/>
            <a:ext cx="1783080" cy="2419375"/>
          </a:xfrm>
          <a:prstGeom prst="rect">
            <a:avLst/>
          </a:prstGeom>
        </p:spPr>
      </p:pic>
      <p:pic>
        <p:nvPicPr>
          <p:cNvPr id="4" name="Picture 3" descr="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0352"/>
            <a:ext cx="493776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8448" y="6035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60">
                <a:solidFill>
                  <a:srgbClr val="FFFFFF"/>
                </a:solidFill>
                <a:latin typeface="Segoe UI"/>
              </a:rPr>
              <a:t>ПУЛЬС ОРБИТЫ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8686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Спасибо!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4E4EC"/>
                </a:solidFill>
                <a:latin typeface="Segoe UI"/>
              </a:rPr>
              <a:t>Команда </a:t>
            </a:r>
            <a:r>
              <a:rPr sz="1700" b="1" i="0">
                <a:solidFill>
                  <a:srgbClr val="FF4D8D"/>
                </a:solidFill>
                <a:latin typeface="Segoe UI"/>
              </a:rPr>
              <a:t>«Абманка для абамки»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3399556" cy="178308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av_ali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511296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56232" y="3639312"/>
            <a:ext cx="19182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B0B14"/>
                </a:solidFill>
                <a:latin typeface="Segoe UI"/>
              </a:rPr>
              <a:t>Алиса Недозорова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4498848"/>
            <a:ext cx="27777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E63A77"/>
                </a:solidFill>
                <a:latin typeface="Segoe UI"/>
              </a:rPr>
              <a:t>БЭКЕНД-ПРОГРАММИСТ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252" y="3200400"/>
            <a:ext cx="3399556" cy="178308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av_dary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7148" y="3511296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66684" y="3639312"/>
            <a:ext cx="19182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B0B14"/>
                </a:solidFill>
                <a:latin typeface="Segoe UI"/>
              </a:rPr>
              <a:t>Дарья Колпакова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7148" y="4498848"/>
            <a:ext cx="27777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E63A77"/>
                </a:solidFill>
                <a:latin typeface="Segoe UI"/>
              </a:rPr>
              <a:t>РЕСЁРЧ И АНАЛИЗ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6704" y="3200400"/>
            <a:ext cx="3399556" cy="178308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v_mar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600" y="3511296"/>
            <a:ext cx="73152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77136" y="3639312"/>
            <a:ext cx="19182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B0B14"/>
                </a:solidFill>
                <a:latin typeface="Segoe UI"/>
              </a:rPr>
              <a:t>Мария Сабашнюк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600" y="4498848"/>
            <a:ext cx="27777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00">
                <a:solidFill>
                  <a:srgbClr val="E63A77"/>
                </a:solidFill>
                <a:latin typeface="Segoe UI"/>
              </a:rPr>
              <a:t>UX/UI ДИЗАЙН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03520"/>
            <a:ext cx="10820369" cy="841248"/>
          </a:xfrm>
          <a:prstGeom prst="roundRect">
            <a:avLst>
              <a:gd name="adj" fmla="val 27173"/>
            </a:avLst>
          </a:prstGeom>
          <a:solidFill>
            <a:srgbClr val="FFFFFF"/>
          </a:solidFill>
          <a:ln w="9525">
            <a:solidFill>
              <a:srgbClr val="E6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303520"/>
            <a:ext cx="1005227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0B0B14"/>
                </a:solidFill>
                <a:latin typeface="Segoe UI"/>
              </a:rPr>
              <a:t>Прототип сравнивает окна по доступным данным и честно показывает неполноту. </a:t>
            </a:r>
            <a:r>
              <a:rPr sz="1250" b="0" i="0">
                <a:solidFill>
                  <a:srgbClr val="6B6B7B"/>
                </a:solidFill>
                <a:latin typeface="Segoe UI"/>
              </a:rPr>
              <a:t>Он не рассчитывает дозу и не выдаёт допуск к ВКД.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E4E4EC"/>
                </a:solidFill>
                <a:latin typeface="Segoe UI"/>
              </a:rPr>
              <a:t>космохакатон.рф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